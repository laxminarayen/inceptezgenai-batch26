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Inter Medium" panose="02000503000000020004" pitchFamily="2" charset="0"/>
      <p:regular r:id="rId17"/>
      <p:bold r:id="rId18"/>
      <p:italic r:id="rId19"/>
      <p:boldItalic r:id="rId20"/>
    </p:embeddedFont>
    <p:embeddedFont>
      <p:font typeface="Inter SemiBold" panose="02000503000000020004" pitchFamily="2" charset="0"/>
      <p:regular r:id="rId21"/>
      <p:bold r:id="rId22"/>
      <p:italic r:id="rId23"/>
      <p:boldItalic r:id="rId24"/>
    </p:embeddedFont>
    <p:embeddedFont>
      <p:font typeface="Montserrat ExtraBold" panose="020F0502020204030204" pitchFamily="34" charset="0"/>
      <p:bold r:id="rId25"/>
      <p:italic r:id="rId26"/>
      <p:boldItalic r:id="rId27"/>
    </p:embeddedFont>
    <p:embeddedFont>
      <p:font typeface="Roboto Mono" pitchFamily="49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5"/>
  </p:normalViewPr>
  <p:slideViewPr>
    <p:cSldViewPr snapToGrid="0">
      <p:cViewPr varScale="1">
        <p:scale>
          <a:sx n="144" d="100"/>
          <a:sy n="144" d="100"/>
        </p:scale>
        <p:origin x="62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6ffd3d8e1_0_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6ffd3d8e1_0_14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6ffd3d8e1_0_28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6ffd3d8e1_0_432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6ffd3d8e1_0_122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6ffd3d8e1_0_709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6ffd3d8e1_0_7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6ffd3d8e1_0_7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6ffd3d8e1_0_854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6ffd3d8e1_0_100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6ffd3d8e1_0_1368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d54e2996b2_19_0)">
  <p:cSld name="Generated (g3d54e2996b2_19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 descr="A minimal, high-tech abstract network of nodes and thin connecting lines in soft blue and grey tones on a white background. Extremely subtle, clean, and professional for a presentation background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14"/>
          <p:cNvGrpSpPr/>
          <p:nvPr/>
        </p:nvGrpSpPr>
        <p:grpSpPr>
          <a:xfrm>
            <a:off x="571500" y="857250"/>
            <a:ext cx="8001000" cy="3691956"/>
            <a:chOff x="571500" y="476250"/>
            <a:chExt cx="8001000" cy="3691956"/>
          </a:xfrm>
        </p:grpSpPr>
        <p:sp>
          <p:nvSpPr>
            <p:cNvPr id="56" name="Google Shape;56;p14"/>
            <p:cNvSpPr/>
            <p:nvPr/>
          </p:nvSpPr>
          <p:spPr>
            <a:xfrm>
              <a:off x="3619500" y="476250"/>
              <a:ext cx="1905000" cy="285900"/>
            </a:xfrm>
            <a:prstGeom prst="roundRect">
              <a:avLst>
                <a:gd name="adj" fmla="val 50000"/>
              </a:avLst>
            </a:prstGeom>
            <a:solidFill>
              <a:srgbClr val="3182C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 txBox="1"/>
            <p:nvPr/>
          </p:nvSpPr>
          <p:spPr>
            <a:xfrm>
              <a:off x="3619500" y="4762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BATCH 26</a:t>
              </a:r>
              <a:endParaRPr sz="1200" b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762000" y="9525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Inceptez Data Science Presents</a:t>
              </a:r>
              <a:endParaRPr sz="1800" b="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571500" y="1714500"/>
              <a:ext cx="8001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800">
                  <a:solidFill>
                    <a:srgbClr val="1A202C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Python Day - 6</a:t>
              </a:r>
              <a:endParaRPr sz="3800" b="0">
                <a:solidFill>
                  <a:srgbClr val="1A202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pic>
          <p:nvPicPr>
            <p:cNvPr id="60" name="Google Shape;60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605213" y="3509963"/>
              <a:ext cx="1933500" cy="28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14"/>
            <p:cNvSpPr txBox="1"/>
            <p:nvPr/>
          </p:nvSpPr>
          <p:spPr>
            <a:xfrm>
              <a:off x="829075" y="3406206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62" name="Google Shape;62;p14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61994" y="4034451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Laxmi Narayen Nagarajan Venkatesan</a:t>
            </a:r>
            <a:endParaRPr>
              <a:solidFill>
                <a:srgbClr val="3182C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182C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03th-May-2026</a:t>
            </a:r>
            <a:endParaRPr>
              <a:solidFill>
                <a:srgbClr val="3182C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71500" y="381000"/>
            <a:ext cx="952500" cy="228600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571500" y="3810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NUMPY 101</a:t>
            </a:r>
            <a:endParaRPr sz="1000" b="1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71500" y="7143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20" b="0">
                <a:solidFill>
                  <a:srgbClr val="1A202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NumPy: The Core of Scientific Computing</a:t>
            </a:r>
            <a:endParaRPr sz="2720" b="0">
              <a:solidFill>
                <a:srgbClr val="1A202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3810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762000" y="1714500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is NumPy?</a:t>
            </a:r>
            <a:endParaRPr sz="1600" b="0">
              <a:solidFill>
                <a:srgbClr val="3182C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62000" y="2095500"/>
            <a:ext cx="3429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NumPy (Numerical Python) is the fundamental package for scientific computing in Python. It provides a powerful N-dimensional array object and tools for integrating C/C++ and Fortran code.</a:t>
            </a:r>
            <a:endParaRPr sz="12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" name="Google Shape;78;p15" descr="A clean, abstract 3D visualization of a mathematical grid or matrix with glowing blue data nodes, representing a multi-dimensional array."/>
          <p:cNvPicPr preferRelativeResize="0"/>
          <p:nvPr/>
        </p:nvPicPr>
        <p:blipFill rotWithShape="1">
          <a:blip r:embed="rId5">
            <a:alphaModFix/>
          </a:blip>
          <a:srcRect t="37170" b="15461"/>
          <a:stretch/>
        </p:blipFill>
        <p:spPr>
          <a:xfrm>
            <a:off x="666750" y="3143250"/>
            <a:ext cx="3619500" cy="2286000"/>
          </a:xfrm>
          <a:prstGeom prst="roundRect">
            <a:avLst>
              <a:gd name="adj" fmla="val 5000"/>
            </a:avLst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0" y="1524000"/>
            <a:ext cx="3810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4953000" y="1714500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Why Arrays over Lists?</a:t>
            </a:r>
            <a:endParaRPr sz="1600" b="0">
              <a:solidFill>
                <a:srgbClr val="3182C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81" name="Google Shape;81;p15"/>
          <p:cNvGrpSpPr/>
          <p:nvPr/>
        </p:nvGrpSpPr>
        <p:grpSpPr>
          <a:xfrm>
            <a:off x="4953000" y="2143125"/>
            <a:ext cx="3429000" cy="428700"/>
            <a:chOff x="0" y="0"/>
            <a:chExt cx="3429000" cy="428700"/>
          </a:xfrm>
        </p:grpSpPr>
        <p:sp>
          <p:nvSpPr>
            <p:cNvPr id="82" name="Google Shape;82;p15"/>
            <p:cNvSpPr/>
            <p:nvPr/>
          </p:nvSpPr>
          <p:spPr>
            <a:xfrm>
              <a:off x="0" y="0"/>
              <a:ext cx="3429000" cy="428700"/>
            </a:xfrm>
            <a:prstGeom prst="roundRect">
              <a:avLst>
                <a:gd name="adj" fmla="val 13333"/>
              </a:avLst>
            </a:prstGeom>
            <a:solidFill>
              <a:srgbClr val="EBF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95250" y="0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Performance:</a:t>
              </a:r>
              <a:r>
                <a:rPr lang="en" sz="12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Vectorized operations are significantly faster than Python loops.</a:t>
              </a:r>
              <a:endParaRPr sz="12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4953000" y="2667000"/>
            <a:ext cx="3429000" cy="428700"/>
            <a:chOff x="0" y="0"/>
            <a:chExt cx="3429000" cy="428700"/>
          </a:xfrm>
        </p:grpSpPr>
        <p:sp>
          <p:nvSpPr>
            <p:cNvPr id="85" name="Google Shape;85;p15"/>
            <p:cNvSpPr/>
            <p:nvPr/>
          </p:nvSpPr>
          <p:spPr>
            <a:xfrm>
              <a:off x="0" y="0"/>
              <a:ext cx="3429000" cy="428700"/>
            </a:xfrm>
            <a:prstGeom prst="roundRect">
              <a:avLst>
                <a:gd name="adj" fmla="val 13333"/>
              </a:avLst>
            </a:prstGeom>
            <a:solidFill>
              <a:srgbClr val="EBF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95250" y="0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Memory Efficiency:</a:t>
              </a:r>
              <a:r>
                <a:rPr lang="en" sz="12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Arrays use less space and are stored in contiguous memory.</a:t>
              </a:r>
              <a:endParaRPr sz="12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4953000" y="3190875"/>
            <a:ext cx="3429000" cy="428700"/>
            <a:chOff x="0" y="0"/>
            <a:chExt cx="3429000" cy="4287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3429000" cy="428700"/>
            </a:xfrm>
            <a:prstGeom prst="roundRect">
              <a:avLst>
                <a:gd name="adj" fmla="val 13333"/>
              </a:avLst>
            </a:prstGeom>
            <a:solidFill>
              <a:srgbClr val="EBF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95250" y="0"/>
              <a:ext cx="3238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Functionality:</a:t>
              </a:r>
              <a:r>
                <a:rPr lang="en" sz="12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Advanced mathematical, algebraic, and statistical operations.</a:t>
              </a:r>
              <a:endParaRPr sz="12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4948238" y="3709988"/>
            <a:ext cx="3438600" cy="723900"/>
            <a:chOff x="-4762" y="-4762"/>
            <a:chExt cx="3438600" cy="723900"/>
          </a:xfrm>
        </p:grpSpPr>
        <p:pic>
          <p:nvPicPr>
            <p:cNvPr id="91" name="Google Shape;91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-4762" y="-4762"/>
              <a:ext cx="3438600" cy="72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5"/>
            <p:cNvSpPr txBox="1"/>
            <p:nvPr/>
          </p:nvSpPr>
          <p:spPr>
            <a:xfrm>
              <a:off x="95250" y="47625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"While Python lists can hold different data types, NumPy arrays are homogeneous, allowing for optimized computation."</a:t>
              </a:r>
              <a:endParaRPr sz="1000" b="0" i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71500" y="3810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571500" y="381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TOPIC 01</a:t>
            </a:r>
            <a:endParaRPr sz="850" b="1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71500" y="7143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>
                <a:solidFill>
                  <a:srgbClr val="1A202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Linear Algebra: The Language of AI</a:t>
            </a:r>
            <a:endParaRPr sz="2700" b="0">
              <a:solidFill>
                <a:srgbClr val="1A202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571500" y="1524000"/>
            <a:ext cx="4000500" cy="4286250"/>
            <a:chOff x="0" y="0"/>
            <a:chExt cx="4000500" cy="428625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190500" y="190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Introduction to Linear Algebra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190500" y="571500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5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Linear algebra is the mathematical framework that allows us to represent and manipulate data efficiently. In AI, every image, word, or recommendation is a vector or a matrix.</a:t>
              </a:r>
              <a:endParaRPr sz="935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06" name="Google Shape;106;p16" descr="A sophisticated abstract visualization of mathematical vectors and geometric planes intersecting in 3D space, minimal blue and white tech style."/>
            <p:cNvPicPr preferRelativeResize="0"/>
            <p:nvPr/>
          </p:nvPicPr>
          <p:blipFill rotWithShape="1">
            <a:blip r:embed="rId4">
              <a:alphaModFix/>
            </a:blip>
            <a:srcRect t="17907" r="-11111" b="-56181"/>
            <a:stretch/>
          </p:blipFill>
          <p:spPr>
            <a:xfrm>
              <a:off x="190500" y="1619250"/>
              <a:ext cx="3810000" cy="2667000"/>
            </a:xfrm>
            <a:prstGeom prst="roundRect">
              <a:avLst>
                <a:gd name="adj" fmla="val 4285"/>
              </a:avLst>
            </a:prstGeom>
            <a:noFill/>
            <a:ln>
              <a:noFill/>
            </a:ln>
          </p:spPr>
        </p:pic>
      </p:grpSp>
      <p:grpSp>
        <p:nvGrpSpPr>
          <p:cNvPr id="107" name="Google Shape;107;p16"/>
          <p:cNvGrpSpPr/>
          <p:nvPr/>
        </p:nvGrpSpPr>
        <p:grpSpPr>
          <a:xfrm>
            <a:off x="4762500" y="1524000"/>
            <a:ext cx="3810000" cy="3048000"/>
            <a:chOff x="0" y="0"/>
            <a:chExt cx="3810000" cy="3048000"/>
          </a:xfrm>
        </p:grpSpPr>
        <p:sp>
          <p:nvSpPr>
            <p:cNvPr id="108" name="Google Shape;108;p16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190500" y="190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How NumPy Powers Linear Algebra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10" name="Google Shape;110;p16"/>
            <p:cNvGrpSpPr/>
            <p:nvPr/>
          </p:nvGrpSpPr>
          <p:grpSpPr>
            <a:xfrm>
              <a:off x="190500" y="619125"/>
              <a:ext cx="3429000" cy="619200"/>
              <a:chOff x="0" y="0"/>
              <a:chExt cx="3429000" cy="619200"/>
            </a:xfrm>
          </p:grpSpPr>
          <p:sp>
            <p:nvSpPr>
              <p:cNvPr id="111" name="Google Shape;111;p16"/>
              <p:cNvSpPr/>
              <p:nvPr/>
            </p:nvSpPr>
            <p:spPr>
              <a:xfrm>
                <a:off x="0" y="0"/>
                <a:ext cx="3429000" cy="619200"/>
              </a:xfrm>
              <a:prstGeom prst="roundRect">
                <a:avLst>
                  <a:gd name="adj" fmla="val 12307"/>
                </a:avLst>
              </a:prstGeom>
              <a:solidFill>
                <a:srgbClr val="EBF8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6"/>
              <p:cNvSpPr txBox="1"/>
              <p:nvPr/>
            </p:nvSpPr>
            <p:spPr>
              <a:xfrm>
                <a:off x="142875" y="95250"/>
                <a:ext cx="3143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35" b="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Vectorization</a:t>
                </a:r>
                <a:br>
                  <a:rPr lang="en" sz="935" b="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</a:br>
                <a:r>
                  <a:rPr lang="en" sz="85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Perform operations on entire arrays at once, eliminating slow Python for-loops.</a:t>
                </a:r>
                <a:endParaRPr sz="935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13" name="Google Shape;113;p16"/>
            <p:cNvGrpSpPr/>
            <p:nvPr/>
          </p:nvGrpSpPr>
          <p:grpSpPr>
            <a:xfrm>
              <a:off x="190500" y="1333500"/>
              <a:ext cx="3429000" cy="619200"/>
              <a:chOff x="0" y="0"/>
              <a:chExt cx="3429000" cy="619200"/>
            </a:xfrm>
          </p:grpSpPr>
          <p:sp>
            <p:nvSpPr>
              <p:cNvPr id="114" name="Google Shape;114;p16"/>
              <p:cNvSpPr/>
              <p:nvPr/>
            </p:nvSpPr>
            <p:spPr>
              <a:xfrm>
                <a:off x="0" y="0"/>
                <a:ext cx="3429000" cy="619200"/>
              </a:xfrm>
              <a:prstGeom prst="roundRect">
                <a:avLst>
                  <a:gd name="adj" fmla="val 12307"/>
                </a:avLst>
              </a:prstGeom>
              <a:solidFill>
                <a:srgbClr val="EBF8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6"/>
              <p:cNvSpPr txBox="1"/>
              <p:nvPr/>
            </p:nvSpPr>
            <p:spPr>
              <a:xfrm>
                <a:off x="142875" y="95250"/>
                <a:ext cx="3143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35" b="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Matrix Operations</a:t>
                </a:r>
                <a:br>
                  <a:rPr lang="en" sz="935" b="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</a:br>
                <a:r>
                  <a:rPr lang="en" sz="85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Built-in support for dot products, determinants, and matrix inversions via np.linalg.</a:t>
                </a:r>
                <a:endParaRPr sz="935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16" name="Google Shape;116;p16"/>
            <p:cNvGrpSpPr/>
            <p:nvPr/>
          </p:nvGrpSpPr>
          <p:grpSpPr>
            <a:xfrm>
              <a:off x="190500" y="2047875"/>
              <a:ext cx="3429000" cy="619200"/>
              <a:chOff x="0" y="0"/>
              <a:chExt cx="3429000" cy="619200"/>
            </a:xfrm>
          </p:grpSpPr>
          <p:sp>
            <p:nvSpPr>
              <p:cNvPr id="117" name="Google Shape;117;p16"/>
              <p:cNvSpPr/>
              <p:nvPr/>
            </p:nvSpPr>
            <p:spPr>
              <a:xfrm>
                <a:off x="0" y="0"/>
                <a:ext cx="3429000" cy="619200"/>
              </a:xfrm>
              <a:prstGeom prst="roundRect">
                <a:avLst>
                  <a:gd name="adj" fmla="val 12307"/>
                </a:avLst>
              </a:prstGeom>
              <a:solidFill>
                <a:srgbClr val="EBF8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6"/>
              <p:cNvSpPr txBox="1"/>
              <p:nvPr/>
            </p:nvSpPr>
            <p:spPr>
              <a:xfrm>
                <a:off x="142875" y="95250"/>
                <a:ext cx="3143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35" b="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Broadcasting</a:t>
                </a:r>
                <a:br>
                  <a:rPr lang="en" sz="935" b="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</a:br>
                <a:r>
                  <a:rPr lang="en" sz="85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Manipulate arrays of different shapes effortlessly during arithmetic operations.</a:t>
                </a:r>
                <a:endParaRPr sz="935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71500" y="3810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571500" y="381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TOPIC 02</a:t>
            </a:r>
            <a:endParaRPr sz="850" b="1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7143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>
                <a:solidFill>
                  <a:srgbClr val="1A202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From Vectors to Tensors: Array Dimensions</a:t>
            </a:r>
            <a:endParaRPr sz="2700" b="0">
              <a:solidFill>
                <a:srgbClr val="1A202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28" name="Google Shape;128;p17"/>
          <p:cNvGrpSpPr/>
          <p:nvPr/>
        </p:nvGrpSpPr>
        <p:grpSpPr>
          <a:xfrm>
            <a:off x="571500" y="1524000"/>
            <a:ext cx="2476500" cy="3048000"/>
            <a:chOff x="0" y="0"/>
            <a:chExt cx="2476500" cy="30480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0" name="Google Shape;130;p17" descr="A 3D visualization of a single row of cubes representing a 1D vector, glowing blue edges, minimalist tech style."/>
            <p:cNvPicPr preferRelativeResize="0"/>
            <p:nvPr/>
          </p:nvPicPr>
          <p:blipFill rotWithShape="1">
            <a:blip r:embed="rId4">
              <a:alphaModFix/>
            </a:blip>
            <a:srcRect t="19231" b="19231"/>
            <a:stretch/>
          </p:blipFill>
          <p:spPr>
            <a:xfrm>
              <a:off x="0" y="0"/>
              <a:ext cx="2476500" cy="1524000"/>
            </a:xfrm>
            <a:prstGeom prst="roundRect">
              <a:avLst>
                <a:gd name="adj" fmla="val 7500"/>
              </a:avLst>
            </a:prstGeom>
            <a:noFill/>
            <a:ln>
              <a:noFill/>
            </a:ln>
          </p:spPr>
        </p:pic>
        <p:sp>
          <p:nvSpPr>
            <p:cNvPr id="131" name="Google Shape;131;p17"/>
            <p:cNvSpPr txBox="1"/>
            <p:nvPr/>
          </p:nvSpPr>
          <p:spPr>
            <a:xfrm>
              <a:off x="142875" y="166687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1D: Vectors</a:t>
              </a:r>
              <a:endParaRPr sz="150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142875" y="2000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 sequence of numbers representing a single axis of data (rank-1 array).</a:t>
              </a:r>
              <a:endParaRPr sz="10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142875" y="2619375"/>
              <a:ext cx="21909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238125" y="2619375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np.array([1, 2, 3])</a:t>
              </a:r>
              <a:endParaRPr sz="85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35" name="Google Shape;135;p17"/>
          <p:cNvGrpSpPr/>
          <p:nvPr/>
        </p:nvGrpSpPr>
        <p:grpSpPr>
          <a:xfrm>
            <a:off x="3333750" y="1524000"/>
            <a:ext cx="2476500" cy="3048000"/>
            <a:chOff x="0" y="0"/>
            <a:chExt cx="2476500" cy="3048000"/>
          </a:xfrm>
        </p:grpSpPr>
        <p:sp>
          <p:nvSpPr>
            <p:cNvPr id="136" name="Google Shape;136;p17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" name="Google Shape;137;p17" descr="A 3D visualization of a grid or table of cubes representing a 2D matrix, glowing blue edges, minimalist tech style."/>
            <p:cNvPicPr preferRelativeResize="0"/>
            <p:nvPr/>
          </p:nvPicPr>
          <p:blipFill rotWithShape="1">
            <a:blip r:embed="rId5">
              <a:alphaModFix/>
            </a:blip>
            <a:srcRect t="19231" b="19231"/>
            <a:stretch/>
          </p:blipFill>
          <p:spPr>
            <a:xfrm>
              <a:off x="0" y="0"/>
              <a:ext cx="2476500" cy="1524000"/>
            </a:xfrm>
            <a:prstGeom prst="roundRect">
              <a:avLst>
                <a:gd name="adj" fmla="val 7500"/>
              </a:avLst>
            </a:prstGeom>
            <a:noFill/>
            <a:ln>
              <a:noFill/>
            </a:ln>
          </p:spPr>
        </p:pic>
        <p:sp>
          <p:nvSpPr>
            <p:cNvPr id="138" name="Google Shape;138;p17"/>
            <p:cNvSpPr txBox="1"/>
            <p:nvPr/>
          </p:nvSpPr>
          <p:spPr>
            <a:xfrm>
              <a:off x="142875" y="166687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2D: Matrices</a:t>
              </a:r>
              <a:endParaRPr sz="150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142875" y="2000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Data arranged in rows and columns, like a spreadsheet (rank-2 array).</a:t>
              </a:r>
              <a:endParaRPr sz="10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142875" y="2619375"/>
              <a:ext cx="21909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238125" y="2619375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np.array([[1,2],[3,4]])</a:t>
              </a:r>
              <a:endParaRPr sz="85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6096000" y="1524000"/>
            <a:ext cx="2476500" cy="3048000"/>
            <a:chOff x="0" y="0"/>
            <a:chExt cx="2476500" cy="3048000"/>
          </a:xfrm>
        </p:grpSpPr>
        <p:sp>
          <p:nvSpPr>
            <p:cNvPr id="143" name="Google Shape;143;p17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4" name="Google Shape;144;p17" descr="A 3D visualization of nested cubes or a 3D block representing a 3D Tensor, glowing blue edges, minimalist tech style."/>
            <p:cNvPicPr preferRelativeResize="0"/>
            <p:nvPr/>
          </p:nvPicPr>
          <p:blipFill rotWithShape="1">
            <a:blip r:embed="rId6">
              <a:alphaModFix/>
            </a:blip>
            <a:srcRect t="19231" b="19231"/>
            <a:stretch/>
          </p:blipFill>
          <p:spPr>
            <a:xfrm>
              <a:off x="0" y="0"/>
              <a:ext cx="2476500" cy="1524000"/>
            </a:xfrm>
            <a:prstGeom prst="roundRect">
              <a:avLst>
                <a:gd name="adj" fmla="val 7500"/>
              </a:avLst>
            </a:prstGeom>
            <a:noFill/>
            <a:ln>
              <a:noFill/>
            </a:ln>
          </p:spPr>
        </p:pic>
        <p:sp>
          <p:nvSpPr>
            <p:cNvPr id="145" name="Google Shape;145;p17"/>
            <p:cNvSpPr txBox="1"/>
            <p:nvPr/>
          </p:nvSpPr>
          <p:spPr>
            <a:xfrm>
              <a:off x="142875" y="166687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3D+: Tensors</a:t>
              </a:r>
              <a:endParaRPr sz="150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142875" y="2000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Multi-dimensional arrays used for complex data like RGB images or video.</a:t>
              </a:r>
              <a:endParaRPr sz="10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142875" y="2619375"/>
              <a:ext cx="21909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238125" y="2619375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np.zeros((2, 2, 2))</a:t>
              </a:r>
              <a:endParaRPr sz="85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3810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381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TOPIC 02</a:t>
            </a:r>
            <a:endParaRPr sz="850" b="1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7143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>
                <a:solidFill>
                  <a:srgbClr val="1A202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Array Creation &amp; Data Types</a:t>
            </a:r>
            <a:endParaRPr sz="2700" b="0">
              <a:solidFill>
                <a:srgbClr val="1A202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57" name="Google Shape;157;p18"/>
          <p:cNvGrpSpPr/>
          <p:nvPr/>
        </p:nvGrpSpPr>
        <p:grpSpPr>
          <a:xfrm>
            <a:off x="571500" y="1524000"/>
            <a:ext cx="2476500" cy="3048000"/>
            <a:chOff x="571500" y="1524000"/>
            <a:chExt cx="2476500" cy="3048000"/>
          </a:xfrm>
        </p:grpSpPr>
        <p:sp>
          <p:nvSpPr>
            <p:cNvPr id="158" name="Google Shape;158;p18"/>
            <p:cNvSpPr/>
            <p:nvPr/>
          </p:nvSpPr>
          <p:spPr>
            <a:xfrm>
              <a:off x="571500" y="152400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9" name="Google Shape;159;p18" descr="A minimalist 3D rendering of digital blocks representing data structures, glowing blue accents, clean white background, high-tech aesthetic."/>
            <p:cNvPicPr preferRelativeResize="0"/>
            <p:nvPr/>
          </p:nvPicPr>
          <p:blipFill rotWithShape="1">
            <a:blip r:embed="rId3">
              <a:alphaModFix/>
            </a:blip>
            <a:srcRect t="21797" b="21792"/>
            <a:stretch/>
          </p:blipFill>
          <p:spPr>
            <a:xfrm>
              <a:off x="571500" y="1524000"/>
              <a:ext cx="2476500" cy="1047900"/>
            </a:xfrm>
            <a:prstGeom prst="roundRect">
              <a:avLst>
                <a:gd name="adj" fmla="val 10909"/>
              </a:avLst>
            </a:prstGeom>
            <a:noFill/>
            <a:ln>
              <a:noFill/>
            </a:ln>
          </p:spPr>
        </p:pic>
        <p:sp>
          <p:nvSpPr>
            <p:cNvPr id="160" name="Google Shape;160;p18"/>
            <p:cNvSpPr txBox="1"/>
            <p:nvPr/>
          </p:nvSpPr>
          <p:spPr>
            <a:xfrm>
              <a:off x="714375" y="2714625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Initialization Methods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714375" y="3000375"/>
              <a:ext cx="2190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Create arrays from lists, ranges, or pre-filled structures. Essential for setting up your data pipeline.</a:t>
              </a:r>
              <a:endParaRPr sz="95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714375" y="4143375"/>
              <a:ext cx="21909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809625" y="4143375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np.array() | np.arange()</a:t>
              </a:r>
              <a:endParaRPr sz="85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64" name="Google Shape;164;p18"/>
          <p:cNvGrpSpPr/>
          <p:nvPr/>
        </p:nvGrpSpPr>
        <p:grpSpPr>
          <a:xfrm>
            <a:off x="3333750" y="1524000"/>
            <a:ext cx="2476500" cy="3048000"/>
            <a:chOff x="3333750" y="1524000"/>
            <a:chExt cx="2476500" cy="3048000"/>
          </a:xfrm>
        </p:grpSpPr>
        <p:sp>
          <p:nvSpPr>
            <p:cNvPr id="165" name="Google Shape;165;p18"/>
            <p:cNvSpPr/>
            <p:nvPr/>
          </p:nvSpPr>
          <p:spPr>
            <a:xfrm>
              <a:off x="3333750" y="152400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6" name="Google Shape;166;p18" descr="Abstract visualization of numerical precision levels, from low to high resolution, using blue gradient bars, minimalist technical style."/>
            <p:cNvPicPr preferRelativeResize="0"/>
            <p:nvPr/>
          </p:nvPicPr>
          <p:blipFill rotWithShape="1">
            <a:blip r:embed="rId4">
              <a:alphaModFix/>
            </a:blip>
            <a:srcRect t="21797" b="21792"/>
            <a:stretch/>
          </p:blipFill>
          <p:spPr>
            <a:xfrm>
              <a:off x="3333750" y="1524000"/>
              <a:ext cx="2476500" cy="1047900"/>
            </a:xfrm>
            <a:prstGeom prst="roundRect">
              <a:avLst>
                <a:gd name="adj" fmla="val 10909"/>
              </a:avLst>
            </a:prstGeom>
            <a:noFill/>
            <a:ln>
              <a:noFill/>
            </a:ln>
          </p:spPr>
        </p:pic>
        <p:sp>
          <p:nvSpPr>
            <p:cNvPr id="167" name="Google Shape;167;p18"/>
            <p:cNvSpPr txBox="1"/>
            <p:nvPr/>
          </p:nvSpPr>
          <p:spPr>
            <a:xfrm>
              <a:off x="3476625" y="2714625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'dtype' Argument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3476625" y="3000375"/>
              <a:ext cx="2190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Control memory usage and precision. Common types include int32, float64, complex128, and bool.</a:t>
              </a:r>
              <a:endParaRPr sz="95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3476625" y="4143375"/>
              <a:ext cx="21909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3571875" y="4143375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dtype='float32'</a:t>
              </a:r>
              <a:endParaRPr sz="85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71" name="Google Shape;171;p18"/>
          <p:cNvGrpSpPr/>
          <p:nvPr/>
        </p:nvGrpSpPr>
        <p:grpSpPr>
          <a:xfrm>
            <a:off x="6096000" y="1524000"/>
            <a:ext cx="2476500" cy="3048000"/>
            <a:chOff x="6096000" y="1524000"/>
            <a:chExt cx="2476500" cy="3048000"/>
          </a:xfrm>
        </p:grpSpPr>
        <p:sp>
          <p:nvSpPr>
            <p:cNvPr id="172" name="Google Shape;172;p18"/>
            <p:cNvSpPr/>
            <p:nvPr/>
          </p:nvSpPr>
          <p:spPr>
            <a:xfrm>
              <a:off x="6096000" y="152400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3" name="Google Shape;173;p18" descr="A diagrammatic representation of random data points scattering into a structured grid, glowing blue and teal dots, minimalist tech style."/>
            <p:cNvPicPr preferRelativeResize="0"/>
            <p:nvPr/>
          </p:nvPicPr>
          <p:blipFill rotWithShape="1">
            <a:blip r:embed="rId5">
              <a:alphaModFix/>
            </a:blip>
            <a:srcRect t="21797" b="21792"/>
            <a:stretch/>
          </p:blipFill>
          <p:spPr>
            <a:xfrm>
              <a:off x="6096000" y="1524000"/>
              <a:ext cx="2476500" cy="1047900"/>
            </a:xfrm>
            <a:prstGeom prst="roundRect">
              <a:avLst>
                <a:gd name="adj" fmla="val 10909"/>
              </a:avLst>
            </a:prstGeom>
            <a:noFill/>
            <a:ln>
              <a:noFill/>
            </a:ln>
          </p:spPr>
        </p:pic>
        <p:sp>
          <p:nvSpPr>
            <p:cNvPr id="174" name="Google Shape;174;p18"/>
            <p:cNvSpPr txBox="1"/>
            <p:nvPr/>
          </p:nvSpPr>
          <p:spPr>
            <a:xfrm>
              <a:off x="6238875" y="2714625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Random &amp; Placeholder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6238875" y="3000375"/>
              <a:ext cx="2190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Generate arrays with random values or placeholders like 'empty' for high-performance memory allocation.</a:t>
              </a:r>
              <a:endParaRPr sz="95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6238875" y="4143375"/>
              <a:ext cx="21909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6334125" y="4143375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np.random.rand(3,3)</a:t>
              </a:r>
              <a:endParaRPr sz="85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3810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381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TOPIC 03</a:t>
            </a:r>
            <a:endParaRPr sz="850" b="1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7143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>
                <a:solidFill>
                  <a:srgbClr val="1A202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Multiplication vs. Dot Product</a:t>
            </a:r>
            <a:endParaRPr sz="2700" b="0">
              <a:solidFill>
                <a:srgbClr val="1A202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88" name="Google Shape;188;p19"/>
          <p:cNvGrpSpPr/>
          <p:nvPr/>
        </p:nvGrpSpPr>
        <p:grpSpPr>
          <a:xfrm>
            <a:off x="571500" y="1524000"/>
            <a:ext cx="3810000" cy="3048000"/>
            <a:chOff x="571500" y="1524000"/>
            <a:chExt cx="3810000" cy="3048000"/>
          </a:xfrm>
        </p:grpSpPr>
        <p:sp>
          <p:nvSpPr>
            <p:cNvPr id="189" name="Google Shape;189;p19"/>
            <p:cNvSpPr/>
            <p:nvPr/>
          </p:nvSpPr>
          <p:spPr>
            <a:xfrm>
              <a:off x="571500" y="1524000"/>
              <a:ext cx="38100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762000" y="1714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Element-wise Multiplication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762000" y="209550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Standard multiplication (*) performs operations on corresponding elements. Arrays must have compatible shapes.</a:t>
              </a:r>
              <a:endParaRPr sz="10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92" name="Google Shape;192;p19" descr="A clean, 2D infographic showing two simple 2x2 grids being multiplied element-by-element, resulting in a third grid. Minimalist blue and grey tech style."/>
            <p:cNvPicPr preferRelativeResize="0"/>
            <p:nvPr/>
          </p:nvPicPr>
          <p:blipFill rotWithShape="1">
            <a:blip r:embed="rId4">
              <a:alphaModFix/>
            </a:blip>
            <a:srcRect t="32499" b="22500"/>
            <a:stretch/>
          </p:blipFill>
          <p:spPr>
            <a:xfrm>
              <a:off x="571500" y="2762250"/>
              <a:ext cx="3810000" cy="17145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93" name="Google Shape;193;p19"/>
            <p:cNvSpPr/>
            <p:nvPr/>
          </p:nvSpPr>
          <p:spPr>
            <a:xfrm>
              <a:off x="762000" y="4191000"/>
              <a:ext cx="34290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857250" y="4191000"/>
              <a:ext cx="3238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 * b # or np.multiply(a, b)</a:t>
              </a:r>
              <a:endParaRPr sz="85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95" name="Google Shape;195;p19"/>
          <p:cNvGrpSpPr/>
          <p:nvPr/>
        </p:nvGrpSpPr>
        <p:grpSpPr>
          <a:xfrm>
            <a:off x="4762500" y="1524000"/>
            <a:ext cx="3810000" cy="3048000"/>
            <a:chOff x="4762500" y="1524000"/>
            <a:chExt cx="3810000" cy="3048000"/>
          </a:xfrm>
        </p:grpSpPr>
        <p:sp>
          <p:nvSpPr>
            <p:cNvPr id="196" name="Google Shape;196;p19"/>
            <p:cNvSpPr/>
            <p:nvPr/>
          </p:nvSpPr>
          <p:spPr>
            <a:xfrm>
              <a:off x="4762500" y="1524000"/>
              <a:ext cx="38100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4953000" y="1714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Matrix Dot Product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4953000" y="209550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Calculates the sum of products of rows and columns. This is the fundamental operation for neural networks.</a:t>
              </a:r>
              <a:endParaRPr sz="10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99" name="Google Shape;199;p19" descr="A conceptual visual representation of a dot product calculation where a row from one matrix meets a column from another, producing a single value. Dynamic glowing blue highlights, high-tech aesthetic."/>
            <p:cNvPicPr preferRelativeResize="0"/>
            <p:nvPr/>
          </p:nvPicPr>
          <p:blipFill rotWithShape="1">
            <a:blip r:embed="rId5">
              <a:alphaModFix/>
            </a:blip>
            <a:srcRect t="32499" b="22500"/>
            <a:stretch/>
          </p:blipFill>
          <p:spPr>
            <a:xfrm>
              <a:off x="4762500" y="2762250"/>
              <a:ext cx="3810000" cy="17145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200" name="Google Shape;200;p19"/>
            <p:cNvSpPr/>
            <p:nvPr/>
          </p:nvSpPr>
          <p:spPr>
            <a:xfrm>
              <a:off x="4953000" y="4191000"/>
              <a:ext cx="34290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5048250" y="4191000"/>
              <a:ext cx="3238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 @ b # or np.dot(a, b)</a:t>
              </a:r>
              <a:endParaRPr sz="85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w_to_Multiply_Matrices">
            <a:hlinkClick r:id="" action="ppaction://media"/>
            <a:extLst>
              <a:ext uri="{FF2B5EF4-FFF2-40B4-BE49-F238E27FC236}">
                <a16:creationId xmlns:a16="http://schemas.microsoft.com/office/drawing/2014/main" id="{471B3CAE-D393-4BD5-AFDC-DAAFBD689A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75" y="4763"/>
            <a:ext cx="9118600" cy="513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1" name="Google Shape;21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71500" y="3810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571500" y="381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TOPIC 04</a:t>
            </a:r>
            <a:endParaRPr sz="850" b="1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7143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>
                <a:solidFill>
                  <a:srgbClr val="1A202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Transposition: Swapping the Axes</a:t>
            </a:r>
            <a:endParaRPr sz="2700" b="0">
              <a:solidFill>
                <a:srgbClr val="1A202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571500" y="1524000"/>
            <a:ext cx="3810000" cy="3048000"/>
            <a:chOff x="571500" y="1524000"/>
            <a:chExt cx="3810000" cy="3048000"/>
          </a:xfrm>
        </p:grpSpPr>
        <p:sp>
          <p:nvSpPr>
            <p:cNvPr id="218" name="Google Shape;218;p21"/>
            <p:cNvSpPr/>
            <p:nvPr/>
          </p:nvSpPr>
          <p:spPr>
            <a:xfrm>
              <a:off x="571500" y="1524000"/>
              <a:ext cx="38100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1"/>
            <p:cNvSpPr txBox="1"/>
            <p:nvPr/>
          </p:nvSpPr>
          <p:spPr>
            <a:xfrm>
              <a:off x="762000" y="1714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Mechanics of array.T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0" name="Google Shape;220;p21"/>
            <p:cNvSpPr txBox="1"/>
            <p:nvPr/>
          </p:nvSpPr>
          <p:spPr>
            <a:xfrm>
              <a:off x="762000" y="209550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Transposition flips a matrix over its main diagonal, switching row indices with column indices. This is essential for restructuring data to meet matrix multiplication requirements.</a:t>
              </a:r>
              <a:endParaRPr sz="925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21" name="Google Shape;221;p21" descr="A clear 2D technical illustration showing a 3x2 grid rotating and flipping into a 2x3 grid. The cells are color-coded to show the movement from rows to columns. Minimalist blue and grey style."/>
            <p:cNvPicPr preferRelativeResize="0"/>
            <p:nvPr/>
          </p:nvPicPr>
          <p:blipFill rotWithShape="1">
            <a:blip r:embed="rId4">
              <a:alphaModFix/>
            </a:blip>
            <a:srcRect t="10000" b="10000"/>
            <a:stretch/>
          </p:blipFill>
          <p:spPr>
            <a:xfrm>
              <a:off x="571500" y="2762250"/>
              <a:ext cx="3810000" cy="17145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222" name="Google Shape;222;p21"/>
            <p:cNvSpPr/>
            <p:nvPr/>
          </p:nvSpPr>
          <p:spPr>
            <a:xfrm>
              <a:off x="762000" y="4191000"/>
              <a:ext cx="34290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1"/>
            <p:cNvSpPr txBox="1"/>
            <p:nvPr/>
          </p:nvSpPr>
          <p:spPr>
            <a:xfrm>
              <a:off x="857250" y="4191000"/>
              <a:ext cx="3238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matrix.T # or np.transpose(matrix)</a:t>
              </a:r>
              <a:endParaRPr sz="85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24" name="Google Shape;224;p21"/>
          <p:cNvGrpSpPr/>
          <p:nvPr/>
        </p:nvGrpSpPr>
        <p:grpSpPr>
          <a:xfrm>
            <a:off x="4762500" y="1524000"/>
            <a:ext cx="3810000" cy="3048000"/>
            <a:chOff x="4762500" y="1524000"/>
            <a:chExt cx="3810000" cy="3048000"/>
          </a:xfrm>
        </p:grpSpPr>
        <p:sp>
          <p:nvSpPr>
            <p:cNvPr id="225" name="Google Shape;225;p21"/>
            <p:cNvSpPr/>
            <p:nvPr/>
          </p:nvSpPr>
          <p:spPr>
            <a:xfrm>
              <a:off x="4762500" y="1524000"/>
              <a:ext cx="38100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1"/>
            <p:cNvSpPr txBox="1"/>
            <p:nvPr/>
          </p:nvSpPr>
          <p:spPr>
            <a:xfrm>
              <a:off x="4953000" y="1714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Vital for Data Alignment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4953000" y="2143125"/>
              <a:ext cx="3429000" cy="619200"/>
            </a:xfrm>
            <a:prstGeom prst="roundRect">
              <a:avLst>
                <a:gd name="adj" fmla="val 12307"/>
              </a:avLst>
            </a:prstGeom>
            <a:solidFill>
              <a:srgbClr val="EBF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5095875" y="2238375"/>
              <a:ext cx="3143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Dimension Matching</a:t>
              </a:r>
              <a:br>
                <a:rPr lang="en" sz="925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8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Aligns the inner dimensions of two matrices $(n \times m) \cdot (m \times p)$ for valid dot products.</a:t>
              </a:r>
              <a:endParaRPr sz="925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4953000" y="2857500"/>
              <a:ext cx="3429000" cy="619200"/>
            </a:xfrm>
            <a:prstGeom prst="roundRect">
              <a:avLst>
                <a:gd name="adj" fmla="val 12307"/>
              </a:avLst>
            </a:prstGeom>
            <a:solidFill>
              <a:srgbClr val="EBF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5095875" y="2952750"/>
              <a:ext cx="3143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Feature Engineering</a:t>
              </a:r>
              <a:br>
                <a:rPr lang="en" sz="925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8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Easily switch between "Samples per Column" and "Samples per Row" formats.</a:t>
              </a:r>
              <a:endParaRPr sz="925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4953000" y="3571875"/>
              <a:ext cx="3429000" cy="619200"/>
            </a:xfrm>
            <a:prstGeom prst="roundRect">
              <a:avLst>
                <a:gd name="adj" fmla="val 12307"/>
              </a:avLst>
            </a:prstGeom>
            <a:solidFill>
              <a:srgbClr val="EBF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5095875" y="3667125"/>
              <a:ext cx="3143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Neural Networks</a:t>
              </a:r>
              <a:br>
                <a:rPr lang="en" sz="925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8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Crucial for backpropagation to orient weight gradients correctly against input data.</a:t>
              </a:r>
              <a:endParaRPr sz="925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3810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71500" y="381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TOPIC 05</a:t>
            </a:r>
            <a:endParaRPr sz="850" b="1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571500" y="7143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>
                <a:solidFill>
                  <a:srgbClr val="1A202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Special Matrices: Structural Patterns</a:t>
            </a:r>
            <a:endParaRPr sz="2700" b="0">
              <a:solidFill>
                <a:srgbClr val="1A202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41" name="Google Shape;241;p22"/>
          <p:cNvGrpSpPr/>
          <p:nvPr/>
        </p:nvGrpSpPr>
        <p:grpSpPr>
          <a:xfrm>
            <a:off x="571500" y="1524000"/>
            <a:ext cx="2476500" cy="3048000"/>
            <a:chOff x="0" y="0"/>
            <a:chExt cx="2476500" cy="3048000"/>
          </a:xfrm>
        </p:grpSpPr>
        <p:sp>
          <p:nvSpPr>
            <p:cNvPr id="242" name="Google Shape;242;p22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3" name="Google Shape;243;p22" descr="A 3D visualization of an identity matrix where only the main diagonal cubes are glowing bright blue, minimalist tech style."/>
            <p:cNvPicPr preferRelativeResize="0"/>
            <p:nvPr/>
          </p:nvPicPr>
          <p:blipFill rotWithShape="1">
            <a:blip r:embed="rId3">
              <a:alphaModFix/>
            </a:blip>
            <a:srcRect t="21797" b="21792"/>
            <a:stretch/>
          </p:blipFill>
          <p:spPr>
            <a:xfrm>
              <a:off x="0" y="0"/>
              <a:ext cx="2476500" cy="1047900"/>
            </a:xfrm>
            <a:prstGeom prst="roundRect">
              <a:avLst>
                <a:gd name="adj" fmla="val 10909"/>
              </a:avLst>
            </a:prstGeom>
            <a:noFill/>
            <a:ln>
              <a:noFill/>
            </a:ln>
          </p:spPr>
        </p:pic>
        <p:sp>
          <p:nvSpPr>
            <p:cNvPr id="244" name="Google Shape;244;p22"/>
            <p:cNvSpPr txBox="1"/>
            <p:nvPr/>
          </p:nvSpPr>
          <p:spPr>
            <a:xfrm>
              <a:off x="142875" y="1190625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Identity &amp; Constant</a:t>
              </a:r>
              <a:endParaRPr sz="130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5" name="Google Shape;245;p22"/>
            <p:cNvSpPr txBox="1"/>
            <p:nvPr/>
          </p:nvSpPr>
          <p:spPr>
            <a:xfrm>
              <a:off x="142875" y="1476375"/>
              <a:ext cx="2190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Identity (I) has 1s on diagonal, 0s elsewhere. Ones and Zeros matrices are filled with a single value.</a:t>
              </a:r>
              <a:endParaRPr sz="9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142875" y="2619375"/>
              <a:ext cx="21909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2"/>
            <p:cNvSpPr txBox="1"/>
            <p:nvPr/>
          </p:nvSpPr>
          <p:spPr>
            <a:xfrm>
              <a:off x="238125" y="2619375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np.eye(3) | np.ones((3,3))</a:t>
              </a:r>
              <a:endParaRPr sz="80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48" name="Google Shape;248;p22"/>
          <p:cNvGrpSpPr/>
          <p:nvPr/>
        </p:nvGrpSpPr>
        <p:grpSpPr>
          <a:xfrm>
            <a:off x="3333750" y="1524000"/>
            <a:ext cx="2476500" cy="3048000"/>
            <a:chOff x="0" y="0"/>
            <a:chExt cx="2476500" cy="3048000"/>
          </a:xfrm>
        </p:grpSpPr>
        <p:sp>
          <p:nvSpPr>
            <p:cNvPr id="249" name="Google Shape;249;p22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0" name="Google Shape;250;p22" descr="A 3D visualization of a diagonal matrix with cubes of varying sizes only on the main diagonal, glowing edges, minimalist tech style."/>
            <p:cNvPicPr preferRelativeResize="0"/>
            <p:nvPr/>
          </p:nvPicPr>
          <p:blipFill rotWithShape="1">
            <a:blip r:embed="rId4">
              <a:alphaModFix/>
            </a:blip>
            <a:srcRect t="21797" b="21792"/>
            <a:stretch/>
          </p:blipFill>
          <p:spPr>
            <a:xfrm>
              <a:off x="0" y="0"/>
              <a:ext cx="2476500" cy="1047900"/>
            </a:xfrm>
            <a:prstGeom prst="roundRect">
              <a:avLst>
                <a:gd name="adj" fmla="val 10909"/>
              </a:avLst>
            </a:prstGeom>
            <a:noFill/>
            <a:ln>
              <a:noFill/>
            </a:ln>
          </p:spPr>
        </p:pic>
        <p:sp>
          <p:nvSpPr>
            <p:cNvPr id="251" name="Google Shape;251;p22"/>
            <p:cNvSpPr txBox="1"/>
            <p:nvPr/>
          </p:nvSpPr>
          <p:spPr>
            <a:xfrm>
              <a:off x="142875" y="1190625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Diagonal Matrices</a:t>
              </a:r>
              <a:endParaRPr sz="130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2" name="Google Shape;252;p22"/>
            <p:cNvSpPr txBox="1"/>
            <p:nvPr/>
          </p:nvSpPr>
          <p:spPr>
            <a:xfrm>
              <a:off x="142875" y="1476375"/>
              <a:ext cx="2190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Only elements on the main diagonal can be non-zero. Essential for scaling operations and eigenvalues.</a:t>
              </a:r>
              <a:endParaRPr sz="9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3" name="Google Shape;253;p22"/>
            <p:cNvSpPr/>
            <p:nvPr/>
          </p:nvSpPr>
          <p:spPr>
            <a:xfrm>
              <a:off x="142875" y="2619375"/>
              <a:ext cx="21909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2"/>
            <p:cNvSpPr txBox="1"/>
            <p:nvPr/>
          </p:nvSpPr>
          <p:spPr>
            <a:xfrm>
              <a:off x="238125" y="2619375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np.diag([1, 2, 3])</a:t>
              </a:r>
              <a:endParaRPr sz="80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55" name="Google Shape;255;p22"/>
          <p:cNvGrpSpPr/>
          <p:nvPr/>
        </p:nvGrpSpPr>
        <p:grpSpPr>
          <a:xfrm>
            <a:off x="6096000" y="1524000"/>
            <a:ext cx="2476500" cy="3048000"/>
            <a:chOff x="0" y="0"/>
            <a:chExt cx="2476500" cy="3048000"/>
          </a:xfrm>
        </p:grpSpPr>
        <p:sp>
          <p:nvSpPr>
            <p:cNvPr id="256" name="Google Shape;256;p22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7" name="Google Shape;257;p22" descr="A 3D visualization showing two blocks of cubes, one with the top half glowing (upper) and one with the bottom half glowing (lower), technical style."/>
            <p:cNvPicPr preferRelativeResize="0"/>
            <p:nvPr/>
          </p:nvPicPr>
          <p:blipFill rotWithShape="1">
            <a:blip r:embed="rId5">
              <a:alphaModFix/>
            </a:blip>
            <a:srcRect t="21797" b="21792"/>
            <a:stretch/>
          </p:blipFill>
          <p:spPr>
            <a:xfrm>
              <a:off x="0" y="0"/>
              <a:ext cx="2476500" cy="1047900"/>
            </a:xfrm>
            <a:prstGeom prst="roundRect">
              <a:avLst>
                <a:gd name="adj" fmla="val 10909"/>
              </a:avLst>
            </a:prstGeom>
            <a:noFill/>
            <a:ln>
              <a:noFill/>
            </a:ln>
          </p:spPr>
        </p:pic>
        <p:sp>
          <p:nvSpPr>
            <p:cNvPr id="258" name="Google Shape;258;p22"/>
            <p:cNvSpPr txBox="1"/>
            <p:nvPr/>
          </p:nvSpPr>
          <p:spPr>
            <a:xfrm>
              <a:off x="142875" y="1190625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Triangular Matrices</a:t>
              </a:r>
              <a:endParaRPr sz="130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142875" y="1476375"/>
              <a:ext cx="2190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Upper (all below diag is 0) and Lower (all above diag is 0). Used in LU decomposition and solving systems.</a:t>
              </a:r>
              <a:endParaRPr sz="9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142875" y="2619375"/>
              <a:ext cx="21909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2"/>
            <p:cNvSpPr txBox="1"/>
            <p:nvPr/>
          </p:nvSpPr>
          <p:spPr>
            <a:xfrm>
              <a:off x="238125" y="2619375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np.triu(a) | np.tril(a)</a:t>
              </a:r>
              <a:endParaRPr sz="80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3182CE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571500" y="3810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571500" y="381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TOPIC 06</a:t>
            </a:r>
            <a:endParaRPr sz="850" b="1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571500" y="7143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>
                <a:solidFill>
                  <a:srgbClr val="1A202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Images are Tensors</a:t>
            </a:r>
            <a:endParaRPr sz="2700" b="0">
              <a:solidFill>
                <a:srgbClr val="1A202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71" name="Google Shape;271;p23"/>
          <p:cNvGrpSpPr/>
          <p:nvPr/>
        </p:nvGrpSpPr>
        <p:grpSpPr>
          <a:xfrm>
            <a:off x="571500" y="1524000"/>
            <a:ext cx="3810000" cy="3048000"/>
            <a:chOff x="571500" y="1524000"/>
            <a:chExt cx="3810000" cy="3048000"/>
          </a:xfrm>
        </p:grpSpPr>
        <p:sp>
          <p:nvSpPr>
            <p:cNvPr id="272" name="Google Shape;272;p23"/>
            <p:cNvSpPr/>
            <p:nvPr/>
          </p:nvSpPr>
          <p:spPr>
            <a:xfrm>
              <a:off x="571500" y="1524000"/>
              <a:ext cx="38100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3"/>
            <p:cNvSpPr txBox="1"/>
            <p:nvPr/>
          </p:nvSpPr>
          <p:spPr>
            <a:xfrm>
              <a:off x="762000" y="1714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Digital Representation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74" name="Google Shape;274;p23"/>
            <p:cNvSpPr txBox="1"/>
            <p:nvPr/>
          </p:nvSpPr>
          <p:spPr>
            <a:xfrm>
              <a:off x="762000" y="209550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To a computer, an image is just a grid of numbers representing pixel intensities. Grayscale is a 2D matrix; RGB is a 3D tensor.</a:t>
              </a:r>
              <a:endParaRPr sz="10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75" name="Google Shape;275;p23" descr="A 3D visualization showing a colorful photo of a flower being decomposed into three separate Red, Green, and Blue color channel matrices. High-tech minimalist aesthetic."/>
            <p:cNvPicPr preferRelativeResize="0"/>
            <p:nvPr/>
          </p:nvPicPr>
          <p:blipFill rotWithShape="1">
            <a:blip r:embed="rId3">
              <a:alphaModFix/>
            </a:blip>
            <a:srcRect t="10000" b="10000"/>
            <a:stretch/>
          </p:blipFill>
          <p:spPr>
            <a:xfrm>
              <a:off x="571500" y="2762250"/>
              <a:ext cx="3810000" cy="17145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276" name="Google Shape;276;p23"/>
            <p:cNvSpPr/>
            <p:nvPr/>
          </p:nvSpPr>
          <p:spPr>
            <a:xfrm>
              <a:off x="762000" y="4191000"/>
              <a:ext cx="3429000" cy="285900"/>
            </a:xfrm>
            <a:prstGeom prst="roundRect">
              <a:avLst>
                <a:gd name="adj" fmla="val 13333"/>
              </a:avLst>
            </a:prstGeom>
            <a:solidFill>
              <a:srgbClr val="2D37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3"/>
            <p:cNvSpPr txBox="1"/>
            <p:nvPr/>
          </p:nvSpPr>
          <p:spPr>
            <a:xfrm>
              <a:off x="857250" y="4191000"/>
              <a:ext cx="3238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63B3E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img_tensor = torch.tensor(image)</a:t>
              </a:r>
              <a:endParaRPr sz="850" b="1">
                <a:solidFill>
                  <a:srgbClr val="63B3ED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78" name="Google Shape;278;p23"/>
          <p:cNvGrpSpPr/>
          <p:nvPr/>
        </p:nvGrpSpPr>
        <p:grpSpPr>
          <a:xfrm>
            <a:off x="4762500" y="1524000"/>
            <a:ext cx="3810000" cy="3048000"/>
            <a:chOff x="4762500" y="1524000"/>
            <a:chExt cx="3810000" cy="3048000"/>
          </a:xfrm>
        </p:grpSpPr>
        <p:sp>
          <p:nvSpPr>
            <p:cNvPr id="279" name="Google Shape;279;p23"/>
            <p:cNvSpPr/>
            <p:nvPr/>
          </p:nvSpPr>
          <p:spPr>
            <a:xfrm>
              <a:off x="4762500" y="1524000"/>
              <a:ext cx="38100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3"/>
            <p:cNvSpPr txBox="1"/>
            <p:nvPr/>
          </p:nvSpPr>
          <p:spPr>
            <a:xfrm>
              <a:off x="4953000" y="1714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0">
                  <a:solidFill>
                    <a:srgbClr val="3182C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Shape: (C, H, W)</a:t>
              </a:r>
              <a:endParaRPr sz="1480" b="0">
                <a:solidFill>
                  <a:srgbClr val="3182C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4953000" y="2143125"/>
              <a:ext cx="3429000" cy="619200"/>
            </a:xfrm>
            <a:prstGeom prst="roundRect">
              <a:avLst>
                <a:gd name="adj" fmla="val 12307"/>
              </a:avLst>
            </a:prstGeom>
            <a:solidFill>
              <a:srgbClr val="EBF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3"/>
            <p:cNvSpPr txBox="1"/>
            <p:nvPr/>
          </p:nvSpPr>
          <p:spPr>
            <a:xfrm>
              <a:off x="5095875" y="2238375"/>
              <a:ext cx="3143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Channels (C)</a:t>
              </a:r>
              <a:br>
                <a:rPr lang="en" sz="1000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</a:br>
              <a:r>
                <a:rPr lang="en" sz="8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Typically 3 for RGB or 1 for Grayscale. Defines the depth.</a:t>
              </a:r>
              <a:endParaRPr sz="1000" b="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4953000" y="2857500"/>
              <a:ext cx="3429000" cy="619200"/>
            </a:xfrm>
            <a:prstGeom prst="roundRect">
              <a:avLst>
                <a:gd name="adj" fmla="val 12307"/>
              </a:avLst>
            </a:prstGeom>
            <a:solidFill>
              <a:srgbClr val="EBF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3"/>
            <p:cNvSpPr txBox="1"/>
            <p:nvPr/>
          </p:nvSpPr>
          <p:spPr>
            <a:xfrm>
              <a:off x="5095875" y="2952750"/>
              <a:ext cx="3143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Spatial Dimensions (H, W)</a:t>
              </a:r>
              <a:br>
                <a:rPr lang="en" sz="1000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</a:br>
              <a:r>
                <a:rPr lang="en" sz="8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Height and Width in pixels. A 1080p image is 1920x1080.</a:t>
              </a:r>
              <a:endParaRPr sz="1000" b="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4953000" y="3571875"/>
              <a:ext cx="3429000" cy="619200"/>
            </a:xfrm>
            <a:prstGeom prst="roundRect">
              <a:avLst>
                <a:gd name="adj" fmla="val 12307"/>
              </a:avLst>
            </a:prstGeom>
            <a:solidFill>
              <a:srgbClr val="EBF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3"/>
            <p:cNvSpPr txBox="1"/>
            <p:nvPr/>
          </p:nvSpPr>
          <p:spPr>
            <a:xfrm>
              <a:off x="5095875" y="3667125"/>
              <a:ext cx="3143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Batch Size (N)</a:t>
              </a:r>
              <a:br>
                <a:rPr lang="en" sz="1000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</a:br>
              <a:r>
                <a:rPr lang="en" sz="8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Neural networks process stacks of images: (N, C, H, W).</a:t>
              </a:r>
              <a:endParaRPr sz="1000" b="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Microsoft Macintosh PowerPoint</Application>
  <PresentationFormat>On-screen Show (16:9)</PresentationFormat>
  <Paragraphs>82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 Mono</vt:lpstr>
      <vt:lpstr>Inter SemiBold</vt:lpstr>
      <vt:lpstr>Montserrat ExtraBold</vt:lpstr>
      <vt:lpstr>Inter Medium</vt:lpstr>
      <vt:lpstr>Arial</vt:lpstr>
      <vt:lpstr>Inter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nvlnarayen96@gmail.com</cp:lastModifiedBy>
  <cp:revision>1</cp:revision>
  <dcterms:modified xsi:type="dcterms:W3CDTF">2026-05-03T12:46:30Z</dcterms:modified>
</cp:coreProperties>
</file>